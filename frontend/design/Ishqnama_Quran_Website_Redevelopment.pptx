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Ishqnama publishes Noor e Imaan — the tarjuma and tafseer of Syed Meeranji Abid Khundmiri. This is the redevelopment of that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screens in the first release. Reading is never gated behind an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decision from the wireframes: one reader, two modes, switched from the bottom toolbar.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al-Fātiḥah in verse-by-verse mode with the Urdu translation of Noor e Imaan.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Continuous mode: tapping a verse washes it gold and raises the translation panel above the toolbar.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opens on the reader's own position, then saved material, then the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in: the index for browsing, search for a remembered phrase or a verse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 ID only — no local passwords. The account exists to carry position and saved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preferences, one panel. This replaces the legacy settings tray.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need to move from mockup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E497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62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ISHQNAMA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1685925"/>
            <a:ext cx="17602200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48"/>
              </a:lnSpc>
              <a:buNone/>
            </a:pPr>
            <a:r>
              <a:rPr lang="en-US" sz="84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Quran website redevelopment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1143000" y="3301305"/>
            <a:ext cx="8572500" cy="9525"/>
          </a:xfrm>
          <a:prstGeom prst="rect">
            <a:avLst/>
          </a:prstGeom>
          <a:gradFill rotWithShape="1">
            <a:gsLst>
              <a:gs pos="0">
                <a:srgbClr val="BEAA30">
                  <a:alpha val="100000"/>
                </a:srgbClr>
              </a:gs>
              <a:gs pos="100000">
                <a:srgbClr val="BEAA3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143000" y="3729930"/>
            <a:ext cx="1079182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56"/>
              </a:lnSpc>
              <a:buNone/>
            </a:pPr>
            <a:r>
              <a:rPr lang="en-US" sz="2850" dirty="0">
                <a:solidFill>
                  <a:srgbClr val="EDF5ED">
                    <a:alpha val="8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review of the eight screens, the two reading modes, and the account model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143000" y="9172575"/>
            <a:ext cx="153135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DF5ED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Noor e Imaan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068538" y="9172575"/>
            <a:ext cx="13768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DF5ED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August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14475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dirty="0">
                <a:solidFill>
                  <a:srgbClr val="12312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Eight screens in the first release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962275"/>
            <a:ext cx="3771900" cy="278130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3352800"/>
            <a:ext cx="34156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76375" y="3819525"/>
            <a:ext cx="3415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35"/>
              </a:lnSpc>
              <a:buNone/>
            </a:pPr>
            <a:r>
              <a:rPr lang="en-US" sz="25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76375" y="4395788"/>
            <a:ext cx="34156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195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Resume, saved, index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19700" y="2962275"/>
            <a:ext cx="3771900" cy="278130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3075" y="3352800"/>
            <a:ext cx="34156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553075" y="3819525"/>
            <a:ext cx="3415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35"/>
              </a:lnSpc>
              <a:buNone/>
            </a:pPr>
            <a:r>
              <a:rPr lang="en-US" sz="25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Chapter index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53075" y="4395788"/>
            <a:ext cx="34156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195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Sura and juz views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96400" y="2962275"/>
            <a:ext cx="3771900" cy="2781300"/>
          </a:xfrm>
          <a:prstGeom prst="roundRect">
            <a:avLst>
              <a:gd name="adj" fmla="val 4795"/>
            </a:avLst>
          </a:prstGeom>
          <a:solidFill>
            <a:srgbClr val="004446"/>
          </a:solidFill>
          <a:ln w="9525">
            <a:solidFill>
              <a:srgbClr val="0044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9775" y="3352800"/>
            <a:ext cx="34156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9775" y="3819525"/>
            <a:ext cx="3415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35"/>
              </a:lnSpc>
              <a:buNone/>
            </a:pPr>
            <a:r>
              <a:rPr lang="en-US" sz="25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Reader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29775" y="4395788"/>
            <a:ext cx="34156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1950" dirty="0">
                <a:solidFill>
                  <a:srgbClr val="EDF5ED">
                    <a:alpha val="7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 reading modes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373100" y="2962275"/>
            <a:ext cx="3771900" cy="278130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06475" y="3352800"/>
            <a:ext cx="34156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706475" y="3819525"/>
            <a:ext cx="3415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35"/>
              </a:lnSpc>
              <a:buNone/>
            </a:pPr>
            <a:r>
              <a:rPr lang="en-US" sz="25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706475" y="4395788"/>
            <a:ext cx="34156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195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Chapters, verses, tafseer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6048375"/>
            <a:ext cx="3771900" cy="278130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76375" y="6438900"/>
            <a:ext cx="34156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76375" y="6905625"/>
            <a:ext cx="3415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35"/>
              </a:lnSpc>
              <a:buNone/>
            </a:pPr>
            <a:r>
              <a:rPr lang="en-US" sz="25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 in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476375" y="7481887"/>
            <a:ext cx="34156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195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 Entra ID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219700" y="6048375"/>
            <a:ext cx="3771900" cy="278130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3075" y="6438900"/>
            <a:ext cx="34156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5553075" y="6905625"/>
            <a:ext cx="3415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35"/>
              </a:lnSpc>
              <a:buNone/>
            </a:pPr>
            <a:r>
              <a:rPr lang="en-US" sz="25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Saved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5553075" y="7481887"/>
            <a:ext cx="34156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195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Bookmarks and history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96400" y="6048375"/>
            <a:ext cx="3771900" cy="278130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29775" y="6438900"/>
            <a:ext cx="34156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629775" y="6905625"/>
            <a:ext cx="3415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35"/>
              </a:lnSpc>
              <a:buNone/>
            </a:pPr>
            <a:r>
              <a:rPr lang="en-US" sz="25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Reading settings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9629775" y="7481887"/>
            <a:ext cx="34156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195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Mode, language, size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3373100" y="6048375"/>
            <a:ext cx="3771900" cy="278130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06475" y="6438900"/>
            <a:ext cx="34156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3706475" y="6905625"/>
            <a:ext cx="3415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35"/>
              </a:lnSpc>
              <a:buNone/>
            </a:pPr>
            <a:r>
              <a:rPr lang="en-US" sz="25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About the author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13706475" y="7481887"/>
            <a:ext cx="34156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195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Noor e Imaan and its origin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43000" y="9115425"/>
            <a:ext cx="17602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Reading is never gated — an account only keeps your place, bookmarks and favourites.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READER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14475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One reader, two modes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3038475"/>
            <a:ext cx="7734300" cy="4914900"/>
          </a:xfrm>
          <a:prstGeom prst="roundRect">
            <a:avLst>
              <a:gd name="adj" fmla="val 3101"/>
            </a:avLst>
          </a:prstGeom>
          <a:ln w="9525">
            <a:solidFill>
              <a:srgbClr val="F7E49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9725" y="3543300"/>
            <a:ext cx="74809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VERSE BY VERSE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09725" y="4086225"/>
            <a:ext cx="74809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02"/>
              </a:lnSpc>
              <a:buNone/>
            </a:pPr>
            <a:r>
              <a:rPr lang="en-US" sz="330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Arabic, gold hairline, translation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609725" y="4857750"/>
            <a:ext cx="6800850" cy="9525"/>
          </a:xfrm>
          <a:prstGeom prst="rect">
            <a:avLst/>
          </a:prstGeom>
          <a:gradFill rotWithShape="1">
            <a:gsLst>
              <a:gs pos="0">
                <a:srgbClr val="BEAA30">
                  <a:alpha val="0"/>
                </a:srgbClr>
              </a:gs>
              <a:gs pos="50000">
                <a:srgbClr val="BEAA30">
                  <a:alpha val="100000"/>
                </a:srgbClr>
              </a:gs>
              <a:gs pos="100000">
                <a:srgbClr val="BEAA3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1609725" y="5114925"/>
            <a:ext cx="70048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EDF5ED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verse is a unit: scripture, rule, translation, then bookmark and tafseer beneath it. Closest to the printed volume.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609725" y="6648450"/>
            <a:ext cx="70048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DF5ED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study, and for the reader who wants the translation always present.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10700" y="3038475"/>
            <a:ext cx="7734300" cy="4914900"/>
          </a:xfrm>
          <a:prstGeom prst="roundRect">
            <a:avLst>
              <a:gd name="adj" fmla="val 3101"/>
            </a:avLst>
          </a:prstGeom>
          <a:ln w="9525">
            <a:solidFill>
              <a:srgbClr val="F7E497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7425" y="3543300"/>
            <a:ext cx="74809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CONTINUOUS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77425" y="4086225"/>
            <a:ext cx="74809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02"/>
              </a:lnSpc>
              <a:buNone/>
            </a:pPr>
            <a:r>
              <a:rPr lang="en-US" sz="330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Unbroken scripture, translation on tap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877425" y="4857750"/>
            <a:ext cx="6800850" cy="9525"/>
          </a:xfrm>
          <a:prstGeom prst="rect">
            <a:avLst/>
          </a:prstGeom>
          <a:gradFill rotWithShape="1">
            <a:gsLst>
              <a:gs pos="0">
                <a:srgbClr val="BEAA30">
                  <a:alpha val="0"/>
                </a:srgbClr>
              </a:gs>
              <a:gs pos="50000">
                <a:srgbClr val="BEAA30">
                  <a:alpha val="100000"/>
                </a:srgbClr>
              </a:gs>
              <a:gs pos="100000">
                <a:srgbClr val="BEAA3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9877425" y="5114925"/>
            <a:ext cx="70048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EDF5ED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Arabic runs as one text with ۝ between verses. Tapping a verse washes it gold and raises its translation in a panel.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877425" y="6648450"/>
            <a:ext cx="70048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DF5ED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recitation and daily reading, where the page should stay quiet.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9115425"/>
            <a:ext cx="17602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DF5ED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switch lives in the bottom toolbar and is remembered per reader — account when signed in, device otherwise.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57271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12312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Reader — verse by verse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035510" y="1295400"/>
            <a:ext cx="2320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1440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143000" y="2190750"/>
            <a:ext cx="11010900" cy="733425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200275"/>
            <a:ext cx="10991850" cy="2565946"/>
          </a:xfrm>
          <a:prstGeom prst="rect">
            <a:avLst/>
          </a:prstGeom>
          <a:solidFill>
            <a:srgbClr val="004446"/>
          </a:solidFill>
          <a:ln/>
        </p:spPr>
      </p:sp>
      <p:sp>
        <p:nvSpPr>
          <p:cNvPr id="6" name="Text 4"/>
          <p:cNvSpPr/>
          <p:nvPr/>
        </p:nvSpPr>
        <p:spPr>
          <a:xfrm>
            <a:off x="1022033" y="2581275"/>
            <a:ext cx="112528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324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0077" y="2943225"/>
            <a:ext cx="10536746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222"/>
              </a:lnSpc>
              <a:buNone/>
            </a:pPr>
            <a:r>
              <a:rPr lang="en-US" sz="3900" dirty="0">
                <a:solidFill>
                  <a:srgbClr val="F7E497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الفاتحة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22033" y="3842296"/>
            <a:ext cx="1125283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al-Fātiḥah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33525" y="5280571"/>
            <a:ext cx="212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36403" y="5147221"/>
            <a:ext cx="1012178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12312F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اَلۡحَمۡدُ لِلّٰهِ رَبِّ الۡعٰلَمِيۡنَۙ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1936403" y="6214021"/>
            <a:ext cx="9826972" cy="9525"/>
          </a:xfrm>
          <a:prstGeom prst="rect">
            <a:avLst/>
          </a:prstGeom>
          <a:gradFill rotWithShape="1">
            <a:gsLst>
              <a:gs pos="0">
                <a:srgbClr val="BEAA30">
                  <a:alpha val="0"/>
                </a:srgbClr>
              </a:gs>
              <a:gs pos="50000">
                <a:srgbClr val="BEAA30">
                  <a:alpha val="100000"/>
                </a:srgbClr>
              </a:gs>
              <a:gs pos="100000">
                <a:srgbClr val="BEAA3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1936403" y="6414046"/>
            <a:ext cx="10121781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03"/>
              </a:lnSpc>
              <a:buNone/>
            </a:pPr>
            <a:r>
              <a:rPr lang="en-US" sz="2550" dirty="0">
                <a:solidFill>
                  <a:srgbClr val="12312F">
                    <a:alpha val="80000"/>
                  </a:srgbClr>
                </a:solidFill>
                <a:latin typeface="Jameel Noori Nastaleeq" pitchFamily="34" charset="0"/>
                <a:ea typeface="Jameel Noori Nastaleeq" pitchFamily="34" charset="-122"/>
                <a:cs typeface="Jameel Noori Nastaleeq" pitchFamily="34" charset="-120"/>
              </a:rPr>
              <a:t>ہر قسم کی تعریف اللہ ہی کے لئے ہے جو تمام مخلوقات کا پروردگار ہے۔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533525" y="7551241"/>
            <a:ext cx="212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936403" y="7417891"/>
            <a:ext cx="1012178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12312F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الرَّحۡمٰنِ الرَّحِيۡمِۙ</a:t>
            </a:r>
            <a:endParaRPr lang="en-US" sz="3450" dirty="0"/>
          </a:p>
        </p:txBody>
      </p:sp>
      <p:sp>
        <p:nvSpPr>
          <p:cNvPr id="15" name="Shape 13"/>
          <p:cNvSpPr/>
          <p:nvPr/>
        </p:nvSpPr>
        <p:spPr>
          <a:xfrm>
            <a:off x="1936403" y="8484691"/>
            <a:ext cx="9826972" cy="9525"/>
          </a:xfrm>
          <a:prstGeom prst="rect">
            <a:avLst/>
          </a:prstGeom>
          <a:gradFill rotWithShape="1">
            <a:gsLst>
              <a:gs pos="0">
                <a:srgbClr val="BEAA30">
                  <a:alpha val="0"/>
                </a:srgbClr>
              </a:gs>
              <a:gs pos="50000">
                <a:srgbClr val="BEAA30">
                  <a:alpha val="100000"/>
                </a:srgbClr>
              </a:gs>
              <a:gs pos="100000">
                <a:srgbClr val="BEAA3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1936403" y="8684716"/>
            <a:ext cx="10121781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03"/>
              </a:lnSpc>
              <a:buNone/>
            </a:pPr>
            <a:r>
              <a:rPr lang="en-US" sz="2550" dirty="0">
                <a:solidFill>
                  <a:srgbClr val="12312F">
                    <a:alpha val="80000"/>
                  </a:srgbClr>
                </a:solidFill>
                <a:latin typeface="Jameel Noori Nastaleeq" pitchFamily="34" charset="0"/>
                <a:ea typeface="Jameel Noori Nastaleeq" pitchFamily="34" charset="-122"/>
                <a:cs typeface="Jameel Noori Nastaleeq" pitchFamily="34" charset="-120"/>
              </a:rPr>
              <a:t>بڑا مہربان نہایت رحم والا ہے،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52525" y="9745712"/>
            <a:ext cx="10991850" cy="9525"/>
          </a:xfrm>
          <a:prstGeom prst="rect">
            <a:avLst/>
          </a:prstGeom>
          <a:solidFill>
            <a:srgbClr val="12312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533525" y="10107662"/>
            <a:ext cx="664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‹ Sura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089946" y="10012412"/>
            <a:ext cx="1915567" cy="542925"/>
          </a:xfrm>
          <a:prstGeom prst="roundRect">
            <a:avLst>
              <a:gd name="adj" fmla="val 50000"/>
            </a:avLst>
          </a:prstGeom>
          <a:solidFill>
            <a:srgbClr val="004446"/>
          </a:solidFill>
          <a:ln/>
        </p:spPr>
      </p:sp>
      <p:sp>
        <p:nvSpPr>
          <p:cNvPr id="20" name="Text 18"/>
          <p:cNvSpPr/>
          <p:nvPr/>
        </p:nvSpPr>
        <p:spPr>
          <a:xfrm>
            <a:off x="4318546" y="10107662"/>
            <a:ext cx="153456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Verse by verse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234113" y="10002887"/>
            <a:ext cx="1675209" cy="561975"/>
          </a:xfrm>
          <a:prstGeom prst="roundRect">
            <a:avLst>
              <a:gd name="adj" fmla="val 50000"/>
            </a:avLst>
          </a:prstGeom>
          <a:ln w="9525">
            <a:solidFill>
              <a:srgbClr val="12312F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2238" y="10107662"/>
            <a:ext cx="127515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137922" y="10102900"/>
            <a:ext cx="114508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اردو · A−A+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174760" y="10107662"/>
            <a:ext cx="664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Sura ›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763500" y="2266950"/>
            <a:ext cx="481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RHYTHM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763500" y="2647950"/>
            <a:ext cx="451294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63"/>
              </a:lnSpc>
              <a:buNone/>
            </a:pPr>
            <a:r>
              <a:rPr lang="en-US" sz="2250" dirty="0">
                <a:solidFill>
                  <a:srgbClr val="12312F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Scripture, illuminated rule, translation — the same three beats on every verse.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763500" y="4252913"/>
            <a:ext cx="481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TAFSEER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763500" y="4633913"/>
            <a:ext cx="4512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63"/>
              </a:lnSpc>
              <a:buNone/>
            </a:pPr>
            <a:r>
              <a:rPr lang="en-US" sz="2250" dirty="0">
                <a:solidFill>
                  <a:srgbClr val="12312F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Collapsed per verse, or set inline once in reading settings.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763500" y="5824538"/>
            <a:ext cx="481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763500" y="6205538"/>
            <a:ext cx="451294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63"/>
              </a:lnSpc>
              <a:buNone/>
            </a:pPr>
            <a:r>
              <a:rPr lang="en-US" sz="2250" dirty="0">
                <a:solidFill>
                  <a:srgbClr val="12312F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Urdu, Hindi or English — one language at a time, switched in the toolbar.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531274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12312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Reader — continuous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3980765" y="1295400"/>
            <a:ext cx="34806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VERSE 1:4 SELECTED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143000" y="2190750"/>
            <a:ext cx="11010900" cy="733425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200275"/>
            <a:ext cx="10991850" cy="4206329"/>
          </a:xfrm>
          <a:prstGeom prst="rect">
            <a:avLst/>
          </a:prstGeom>
          <a:solidFill>
            <a:srgbClr val="F4F9F4"/>
          </a:solidFill>
          <a:ln/>
        </p:spPr>
      </p:sp>
      <p:sp>
        <p:nvSpPr>
          <p:cNvPr id="6" name="Text 4"/>
          <p:cNvSpPr/>
          <p:nvPr/>
        </p:nvSpPr>
        <p:spPr>
          <a:xfrm>
            <a:off x="1307402" y="2695575"/>
            <a:ext cx="10379774" cy="205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2250"/>
              </a:lnSpc>
              <a:buNone/>
            </a:pPr>
            <a:r>
              <a:rPr lang="en-US" sz="3450" dirty="0">
                <a:solidFill>
                  <a:srgbClr val="12312F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اَلۡحَمۡدُ لِلّٰهِ رَبِّ الۡعٰلَمِيۡنَۙ </a:t>
            </a:r>
            <a:pPr algn="r" indent="0" marL="0">
              <a:lnSpc>
                <a:spcPct val="132250"/>
              </a:lnSpc>
              <a:buNone/>
            </a:pPr>
            <a:r>
              <a:rPr lang="en-US" sz="2415" dirty="0">
                <a:solidFill>
                  <a:srgbClr val="BEAA30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۝ </a:t>
            </a:r>
            <a:pPr algn="r" indent="0" marL="0">
              <a:lnSpc>
                <a:spcPct val="132250"/>
              </a:lnSpc>
              <a:buNone/>
            </a:pPr>
            <a:r>
              <a:rPr lang="en-US" sz="3450" dirty="0">
                <a:solidFill>
                  <a:srgbClr val="12312F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الرَّحۡمٰنِ الرَّحِيۡمِۙ </a:t>
            </a:r>
            <a:pPr algn="r" indent="0" marL="0">
              <a:lnSpc>
                <a:spcPct val="132250"/>
              </a:lnSpc>
              <a:buNone/>
            </a:pPr>
            <a:r>
              <a:rPr lang="en-US" sz="2415" dirty="0">
                <a:solidFill>
                  <a:srgbClr val="BEAA30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۝ </a:t>
            </a:r>
            <a:pPr algn="r" indent="0" marL="0">
              <a:lnSpc>
                <a:spcPct val="132250"/>
              </a:lnSpc>
              <a:buNone/>
            </a:pPr>
            <a:r>
              <a:rPr lang="en-US" sz="3450" dirty="0">
                <a:solidFill>
                  <a:srgbClr val="12312F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مٰلِكِ يَوۡمِ الدِّيۡنِؕ </a:t>
            </a:r>
            <a:pPr algn="r" indent="0" marL="0">
              <a:lnSpc>
                <a:spcPct val="132250"/>
              </a:lnSpc>
              <a:buNone/>
            </a:pPr>
            <a:r>
              <a:rPr lang="en-US" sz="2415" dirty="0">
                <a:solidFill>
                  <a:srgbClr val="BEAA30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۝ </a:t>
            </a:r>
            <a:pPr algn="r" indent="0" marL="0">
              <a:lnSpc>
                <a:spcPct val="132250"/>
              </a:lnSpc>
              <a:buNone/>
            </a:pPr>
            <a:r>
              <a:rPr lang="en-US" sz="3450" dirty="0">
                <a:solidFill>
                  <a:srgbClr val="12312F"/>
                </a:solidFill>
                <a:highlight>
                  <a:srgbClr val="FBF3D0"/>
                </a:highlight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اِيَّاكَ نَعۡبُدُ وَاِيَّاكَ نَسۡتَعِيۡنُؕ </a:t>
            </a:r>
            <a:pPr algn="r" indent="0" marL="0">
              <a:lnSpc>
                <a:spcPct val="132250"/>
              </a:lnSpc>
              <a:buNone/>
            </a:pPr>
            <a:r>
              <a:rPr lang="en-US" sz="2415" dirty="0">
                <a:solidFill>
                  <a:srgbClr val="BEAA30"/>
                </a:solidFill>
                <a:highlight>
                  <a:srgbClr val="FBF3D0"/>
                </a:highlight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۝ </a:t>
            </a:r>
            <a:pPr algn="r" indent="0" marL="0">
              <a:lnSpc>
                <a:spcPct val="132250"/>
              </a:lnSpc>
              <a:buNone/>
            </a:pPr>
            <a:r>
              <a:rPr lang="en-US" sz="3450" dirty="0">
                <a:solidFill>
                  <a:srgbClr val="12312F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اِهۡدِنَا الصِّرَاطَ الۡمُسۡتَقِيۡمَۙ </a:t>
            </a:r>
            <a:pPr algn="r" indent="0" marL="0">
              <a:lnSpc>
                <a:spcPct val="132250"/>
              </a:lnSpc>
              <a:buNone/>
            </a:pPr>
            <a:r>
              <a:rPr lang="en-US" sz="2415" dirty="0">
                <a:solidFill>
                  <a:srgbClr val="BEAA30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۝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152525" y="6406604"/>
            <a:ext cx="10991850" cy="9525"/>
          </a:xfrm>
          <a:prstGeom prst="rect">
            <a:avLst/>
          </a:prstGeom>
          <a:solidFill>
            <a:srgbClr val="12312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609725" y="6749504"/>
            <a:ext cx="7570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6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4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93113" y="6720929"/>
            <a:ext cx="274346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4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bookmark · share · close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609725" y="7263854"/>
            <a:ext cx="10077450" cy="9525"/>
          </a:xfrm>
          <a:prstGeom prst="rect">
            <a:avLst/>
          </a:prstGeom>
          <a:gradFill rotWithShape="1">
            <a:gsLst>
              <a:gs pos="0">
                <a:srgbClr val="BEAA30">
                  <a:alpha val="0"/>
                </a:srgbClr>
              </a:gs>
              <a:gs pos="50000">
                <a:srgbClr val="BEAA30">
                  <a:alpha val="100000"/>
                </a:srgbClr>
              </a:gs>
              <a:gs pos="100000">
                <a:srgbClr val="BEAA3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1609725" y="7463879"/>
            <a:ext cx="10379774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03"/>
              </a:lnSpc>
              <a:buNone/>
            </a:pPr>
            <a:r>
              <a:rPr lang="en-US" sz="2550" dirty="0">
                <a:solidFill>
                  <a:srgbClr val="12312F">
                    <a:alpha val="85000"/>
                  </a:srgbClr>
                </a:solidFill>
                <a:latin typeface="Jameel Noori Nastaleeq" pitchFamily="34" charset="0"/>
                <a:ea typeface="Jameel Noori Nastaleeq" pitchFamily="34" charset="-122"/>
                <a:cs typeface="Jameel Noori Nastaleeq" pitchFamily="34" charset="-120"/>
              </a:rPr>
              <a:t>(اے اللہ ) ہم تیری ہی عبادت کرتے ہیں اور تجھ ہی سے مدد مانگتے ہیں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52525" y="8448675"/>
            <a:ext cx="10991850" cy="9525"/>
          </a:xfrm>
          <a:prstGeom prst="rect">
            <a:avLst/>
          </a:prstGeom>
          <a:solidFill>
            <a:srgbClr val="12312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33525" y="8810625"/>
            <a:ext cx="664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‹ Sura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738688" y="8705850"/>
            <a:ext cx="1934617" cy="561975"/>
          </a:xfrm>
          <a:prstGeom prst="roundRect">
            <a:avLst>
              <a:gd name="adj" fmla="val 50000"/>
            </a:avLst>
          </a:prstGeom>
          <a:ln w="9525">
            <a:solidFill>
              <a:srgbClr val="12312F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6813" y="8810625"/>
            <a:ext cx="153456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Verse by verse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901904" y="8715375"/>
            <a:ext cx="1656159" cy="542925"/>
          </a:xfrm>
          <a:prstGeom prst="roundRect">
            <a:avLst>
              <a:gd name="adj" fmla="val 50000"/>
            </a:avLst>
          </a:prstGeom>
          <a:solidFill>
            <a:srgbClr val="004446"/>
          </a:solidFill>
          <a:ln/>
        </p:spPr>
      </p:sp>
      <p:sp>
        <p:nvSpPr>
          <p:cNvPr id="17" name="Text 15"/>
          <p:cNvSpPr/>
          <p:nvPr/>
        </p:nvSpPr>
        <p:spPr>
          <a:xfrm>
            <a:off x="7130504" y="8810625"/>
            <a:ext cx="127515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174760" y="8810625"/>
            <a:ext cx="664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12F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Sura ›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763500" y="2266950"/>
            <a:ext cx="481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763500" y="2647950"/>
            <a:ext cx="4512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63"/>
              </a:lnSpc>
              <a:buNone/>
            </a:pPr>
            <a:r>
              <a:rPr lang="en-US" sz="2250" dirty="0">
                <a:solidFill>
                  <a:srgbClr val="12312F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gold wash, not a border — the page keeps its calm.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763500" y="3838575"/>
            <a:ext cx="481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763500" y="4219575"/>
            <a:ext cx="4512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63"/>
              </a:lnSpc>
              <a:buNone/>
            </a:pPr>
            <a:r>
              <a:rPr lang="en-US" sz="2250" dirty="0">
                <a:solidFill>
                  <a:srgbClr val="12312F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Sits in flow above the toolbar on desktop, as a sheet on mobile.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2763500" y="5410200"/>
            <a:ext cx="481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VERSE ENDS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763500" y="5791200"/>
            <a:ext cx="4512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63"/>
              </a:lnSpc>
              <a:buNone/>
            </a:pPr>
            <a:r>
              <a:rPr lang="en-US" sz="2250" dirty="0">
                <a:solidFill>
                  <a:srgbClr val="12312F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۝ in gold marks each boundary and carries its own spacing.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76375"/>
            <a:ext cx="176022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12312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page opens where the reader stopped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800350"/>
            <a:ext cx="8551218" cy="2419350"/>
          </a:xfrm>
          <a:prstGeom prst="roundRect">
            <a:avLst>
              <a:gd name="adj" fmla="val 6299"/>
            </a:avLst>
          </a:prstGeom>
          <a:solidFill>
            <a:srgbClr val="004446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3219450"/>
            <a:ext cx="8400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READING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3705225"/>
            <a:ext cx="409539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al-Baqarah · verse 141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856637" y="3695700"/>
            <a:ext cx="1380381" cy="600075"/>
          </a:xfrm>
          <a:prstGeom prst="roundRect">
            <a:avLst>
              <a:gd name="adj" fmla="val 50000"/>
            </a:avLst>
          </a:prstGeom>
          <a:ln w="9525">
            <a:solidFill>
              <a:srgbClr val="F7E4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2862" y="3819525"/>
            <a:ext cx="9041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7E49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Resume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4448175"/>
            <a:ext cx="84004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DF5ED">
                    <a:alpha val="6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49% of the sura · read two days ago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5524500"/>
            <a:ext cx="8551218" cy="272593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1625" y="5915025"/>
            <a:ext cx="84633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BOOKMARKS · 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1625" y="6391275"/>
            <a:ext cx="7924787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94"/>
              </a:lnSpc>
              <a:buNone/>
            </a:pPr>
            <a:r>
              <a:rPr lang="en-US" sz="2850" dirty="0">
                <a:solidFill>
                  <a:srgbClr val="12312F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اِيَّاكَ نَعۡبُدُ وَاِيَّاكَ نَسۡتَعِيۡنُؕ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571625" y="7288411"/>
            <a:ext cx="79247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250" dirty="0">
                <a:solidFill>
                  <a:srgbClr val="12312F">
                    <a:alpha val="72000"/>
                  </a:srgbClr>
                </a:solidFill>
                <a:latin typeface="Jameel Noori Nastaleeq" pitchFamily="34" charset="0"/>
                <a:ea typeface="Jameel Noori Nastaleeq" pitchFamily="34" charset="-122"/>
                <a:cs typeface="Jameel Noori Nastaleeq" pitchFamily="34" charset="-120"/>
              </a:rPr>
              <a:t>(اے اللہ ) ہم تیری ہی عبادت کرتے ہیں اور تجھ ہی سے مدد مانگتے ہیں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303818" y="2800350"/>
            <a:ext cx="75253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114 CHAPTERS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303818" y="3333750"/>
            <a:ext cx="6841182" cy="4314825"/>
          </a:xfrm>
          <a:prstGeom prst="roundRect">
            <a:avLst>
              <a:gd name="adj" fmla="val 3532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13343" y="4410075"/>
            <a:ext cx="6822132" cy="9525"/>
          </a:xfrm>
          <a:prstGeom prst="rect">
            <a:avLst/>
          </a:prstGeom>
          <a:solidFill>
            <a:srgbClr val="12312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656243" y="3729038"/>
            <a:ext cx="212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059120" y="3657600"/>
            <a:ext cx="5478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al-Fātiḥah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306502" y="3609975"/>
            <a:ext cx="56227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2312F">
                    <a:alpha val="62000"/>
                  </a:srgbClr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الفاتحة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313343" y="5486400"/>
            <a:ext cx="6822132" cy="9525"/>
          </a:xfrm>
          <a:prstGeom prst="rect">
            <a:avLst/>
          </a:prstGeom>
          <a:solidFill>
            <a:srgbClr val="12312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656243" y="4805363"/>
            <a:ext cx="212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059120" y="4733925"/>
            <a:ext cx="552753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al-Baqarah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350853" y="4686300"/>
            <a:ext cx="51792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2312F">
                    <a:alpha val="62000"/>
                  </a:srgbClr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البقرة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313343" y="6562725"/>
            <a:ext cx="6822132" cy="9525"/>
          </a:xfrm>
          <a:prstGeom prst="rect">
            <a:avLst/>
          </a:prstGeom>
          <a:solidFill>
            <a:srgbClr val="12312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656243" y="5881688"/>
            <a:ext cx="212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059120" y="5810250"/>
            <a:ext cx="51390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Āl ʿImrān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5997684" y="5762625"/>
            <a:ext cx="8710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2312F">
                    <a:alpha val="62000"/>
                  </a:srgbClr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آل عمران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656243" y="6958013"/>
            <a:ext cx="212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059120" y="6886575"/>
            <a:ext cx="548513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an-Nisāʾ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312307" y="6838950"/>
            <a:ext cx="5564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2312F">
                    <a:alpha val="62000"/>
                  </a:srgbClr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النساء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303818" y="7915275"/>
            <a:ext cx="70464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12F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Signed out, the same page leads with the volume and the index; the account is one quiet card.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AND SEARCH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76375"/>
            <a:ext cx="176022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Two ways to reach a verse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876550"/>
            <a:ext cx="7734300" cy="6238875"/>
          </a:xfrm>
          <a:prstGeom prst="roundRect">
            <a:avLst>
              <a:gd name="adj" fmla="val 2443"/>
            </a:avLst>
          </a:prstGeom>
          <a:ln w="9525">
            <a:solidFill>
              <a:srgbClr val="F7E497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9725" y="3343275"/>
            <a:ext cx="748093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the index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609725" y="4181475"/>
            <a:ext cx="6800850" cy="9525"/>
          </a:xfrm>
          <a:prstGeom prst="rect">
            <a:avLst/>
          </a:prstGeom>
          <a:gradFill rotWithShape="1">
            <a:gsLst>
              <a:gs pos="0">
                <a:srgbClr val="BEAA30">
                  <a:alpha val="0"/>
                </a:srgbClr>
              </a:gs>
              <a:gs pos="50000">
                <a:srgbClr val="BEAA30">
                  <a:alpha val="100000"/>
                </a:srgbClr>
              </a:gs>
              <a:gs pos="100000">
                <a:srgbClr val="BEAA3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1609725" y="4457700"/>
            <a:ext cx="70048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EDF5ED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114 chapters as one list, switchable to juz. Each row carries the number, the romanised name, the Arabic name, and Makki or Madani with the verse count.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609725" y="6010275"/>
            <a:ext cx="74809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EDF5ED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Filter by name or number narrows the list as you type.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10700" y="2876550"/>
            <a:ext cx="7734300" cy="6238875"/>
          </a:xfrm>
          <a:prstGeom prst="roundRect">
            <a:avLst>
              <a:gd name="adj" fmla="val 2443"/>
            </a:avLst>
          </a:prstGeom>
          <a:ln w="9525">
            <a:solidFill>
              <a:srgbClr val="F7E497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7425" y="3343275"/>
            <a:ext cx="748093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the text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877425" y="4181475"/>
            <a:ext cx="6800850" cy="9525"/>
          </a:xfrm>
          <a:prstGeom prst="rect">
            <a:avLst/>
          </a:prstGeom>
          <a:gradFill rotWithShape="1">
            <a:gsLst>
              <a:gs pos="0">
                <a:srgbClr val="BEAA30">
                  <a:alpha val="0"/>
                </a:srgbClr>
              </a:gs>
              <a:gs pos="50000">
                <a:srgbClr val="BEAA30">
                  <a:alpha val="100000"/>
                </a:srgbClr>
              </a:gs>
              <a:gs pos="100000">
                <a:srgbClr val="BEAA3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9877425" y="4457700"/>
            <a:ext cx="70048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EDF5ED">
                    <a:alpha val="7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Results group into chapters, verses and tafseer. Verse hits show the Arabic with the translation beneath, so the reader recognises the line before opening it.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877425" y="6010275"/>
            <a:ext cx="74809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EDF5ED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verse address such as 2:255 resolves directly.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43000" y="9115425"/>
            <a:ext cx="17602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DF5ED">
                    <a:alpha val="62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is in the app bar on every screen; the index is one click from anywhere.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76375"/>
            <a:ext cx="176022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12312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Signing in is optional, and only ever additive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876550"/>
            <a:ext cx="5054501" cy="3324225"/>
          </a:xfrm>
          <a:prstGeom prst="roundRect">
            <a:avLst>
              <a:gd name="adj" fmla="val 458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2575" y="3343275"/>
            <a:ext cx="46588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2575" y="3819525"/>
            <a:ext cx="4658886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63"/>
              </a:lnSpc>
              <a:buNone/>
            </a:pPr>
            <a:r>
              <a:rPr lang="en-US" sz="28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 Entra External ID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52575" y="4481513"/>
            <a:ext cx="436241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12F">
                    <a:alpha val="6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button, no local password to keep or reset.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616601" y="2876550"/>
            <a:ext cx="5054650" cy="3324225"/>
          </a:xfrm>
          <a:prstGeom prst="roundRect">
            <a:avLst>
              <a:gd name="adj" fmla="val 458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6176" y="3343275"/>
            <a:ext cx="4659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CARRIES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26176" y="3819525"/>
            <a:ext cx="436256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63"/>
              </a:lnSpc>
              <a:buNone/>
            </a:pPr>
            <a:r>
              <a:rPr lang="en-US" sz="28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Position, bookmarks, favourites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7026176" y="4933950"/>
            <a:ext cx="4362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12F">
                    <a:alpha val="6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Plus reading mode, language and text size, across devices.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90350" y="2876550"/>
            <a:ext cx="5054650" cy="3324225"/>
          </a:xfrm>
          <a:prstGeom prst="roundRect">
            <a:avLst>
              <a:gd name="adj" fmla="val 4585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99925" y="3343275"/>
            <a:ext cx="4659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99925" y="3819525"/>
            <a:ext cx="46590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63"/>
              </a:lnSpc>
              <a:buNone/>
            </a:pPr>
            <a:r>
              <a:rPr lang="en-US" sz="28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Everything readable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499925" y="4481513"/>
            <a:ext cx="4362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12F">
                    <a:alpha val="6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Preferences persist on the device; nothing is withheld.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8191500"/>
            <a:ext cx="16002000" cy="1333500"/>
          </a:xfrm>
          <a:prstGeom prst="roundRect">
            <a:avLst>
              <a:gd name="adj" fmla="val 11429"/>
            </a:avLst>
          </a:prstGeom>
          <a:solidFill>
            <a:srgbClr val="004446"/>
          </a:solidFill>
          <a:ln/>
        </p:spPr>
      </p:sp>
      <p:sp>
        <p:nvSpPr>
          <p:cNvPr id="17" name="Text 15"/>
          <p:cNvSpPr/>
          <p:nvPr/>
        </p:nvSpPr>
        <p:spPr>
          <a:xfrm>
            <a:off x="1638300" y="8610600"/>
            <a:ext cx="1218664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“Keep reading as a guest” sits under the sign-in button, not hidden behind it.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377988" y="8724900"/>
            <a:ext cx="24988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SIGN-IN SCREEN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8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SETTINGS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76375"/>
            <a:ext cx="176022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12312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Four preferences, one panel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838450"/>
            <a:ext cx="7810500" cy="3152775"/>
          </a:xfrm>
          <a:prstGeom prst="roundRect">
            <a:avLst>
              <a:gd name="adj" fmla="val 4834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9725" y="3267075"/>
            <a:ext cx="7564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MODE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9725" y="3724275"/>
            <a:ext cx="756475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Verse by verse or continuous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609725" y="4429125"/>
            <a:ext cx="708336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12F">
                    <a:alpha val="6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Mirrored in the toolbar, so it can be changed without leaving the page.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34500" y="2838450"/>
            <a:ext cx="7810500" cy="3152775"/>
          </a:xfrm>
          <a:prstGeom prst="roundRect">
            <a:avLst>
              <a:gd name="adj" fmla="val 4834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1225" y="3267075"/>
            <a:ext cx="7564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TRANSLATION LANGUAGE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01225" y="3724275"/>
            <a:ext cx="75647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اردو · हिन्दी · English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801225" y="4448175"/>
            <a:ext cx="75647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12F">
                    <a:alpha val="6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language sets its own typeface, size and line height.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6372225"/>
            <a:ext cx="7810500" cy="3152775"/>
          </a:xfrm>
          <a:prstGeom prst="roundRect">
            <a:avLst>
              <a:gd name="adj" fmla="val 4834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725" y="6800850"/>
            <a:ext cx="7564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SIZE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9725" y="7258050"/>
            <a:ext cx="756475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steps, scripture and translation together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609725" y="7962900"/>
            <a:ext cx="708336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12F">
                    <a:alpha val="6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most-used control on the legacy site; now in the toolbar as well.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34500" y="6372225"/>
            <a:ext cx="7810500" cy="3152775"/>
          </a:xfrm>
          <a:prstGeom prst="roundRect">
            <a:avLst>
              <a:gd name="adj" fmla="val 4834"/>
            </a:avLst>
          </a:prstGeom>
          <a:solidFill>
            <a:srgbClr val="FFFFFF"/>
          </a:solidFill>
          <a:ln w="9525">
            <a:solidFill>
              <a:srgbClr val="12312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1225" y="6800850"/>
            <a:ext cx="7564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EA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TAFSEER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01225" y="7258050"/>
            <a:ext cx="756475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23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Inline, or collapsed per verse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801225" y="7962900"/>
            <a:ext cx="75647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12F">
                    <a:alpha val="68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read with it open; daily readers leave it closed.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E497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76375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To move from mockup to build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3000" y="3717578"/>
            <a:ext cx="13335000" cy="9525"/>
          </a:xfrm>
          <a:prstGeom prst="rect">
            <a:avLst/>
          </a:prstGeom>
          <a:solidFill>
            <a:srgbClr val="F7E497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09900"/>
            <a:ext cx="3905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00225" y="2924175"/>
            <a:ext cx="6557114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 screens for the same eight views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143000" y="4882455"/>
            <a:ext cx="13335000" cy="9525"/>
          </a:xfrm>
          <a:prstGeom prst="rect">
            <a:avLst/>
          </a:prstGeom>
          <a:solidFill>
            <a:srgbClr val="F7E497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174778"/>
            <a:ext cx="3905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800225" y="4089053"/>
            <a:ext cx="867029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Noor e Imaan text and tafseer as structured data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143000" y="6047333"/>
            <a:ext cx="13335000" cy="9525"/>
          </a:xfrm>
          <a:prstGeom prst="rect">
            <a:avLst/>
          </a:prstGeom>
          <a:solidFill>
            <a:srgbClr val="F7E497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339655"/>
            <a:ext cx="3905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800225" y="5253930"/>
            <a:ext cx="851149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Hindi and English translations confirmed for launch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143000" y="6504533"/>
            <a:ext cx="3905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00225" y="6418808"/>
            <a:ext cx="10866477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Author photography and the printed volume, for the About screen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2026-08-22T11:48:26Z</dcterms:created>
  <dcterms:modified xsi:type="dcterms:W3CDTF">2026-08-22T11:48:26Z</dcterms:modified>
</cp:coreProperties>
</file>