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8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72327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A5A5F">
                  <a:alpha val="100000"/>
                </a:srgbClr>
              </a:gs>
              <a:gs pos="48000">
                <a:srgbClr val="004446">
                  <a:alpha val="100000"/>
                </a:srgbClr>
              </a:gs>
              <a:gs pos="100000">
                <a:srgbClr val="00292B">
                  <a:alpha val="100000"/>
                </a:srgbClr>
              </a:gs>
            </a:gsLst>
            <a:path path="circle">
              <a:fillToRect l="50000" t="28000" r="50000" b="72000"/>
            </a:path>
          </a:gra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E497">
              <a:alpha val="10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6184900" y="1143000"/>
            <a:ext cx="5918200" cy="5918200"/>
          </a:xfrm>
          <a:custGeom>
            <a:avLst/>
            <a:gdLst/>
            <a:ahLst/>
            <a:cxnLst/>
            <a:rect l="l" t="t" r="r" b="b"/>
            <a:pathLst>
              <a:path w="5918200" h="5918200">
                <a:moveTo>
                  <a:pt x="2959100" y="0"/>
                </a:moveTo>
                <a:lnTo>
                  <a:pt x="2959100" y="0"/>
                </a:lnTo>
                <a:arcTo wR="2959100" hR="2959100" stAng="16200000" swAng="5400000"/>
                <a:lnTo>
                  <a:pt x="5918200" y="5918200"/>
                </a:lnTo>
                <a:lnTo>
                  <a:pt x="0" y="5918200"/>
                </a:lnTo>
                <a:lnTo>
                  <a:pt x="0" y="2959100"/>
                </a:lnTo>
                <a:arcTo wR="2959100" hR="2959100" stAng="10800000" swAng="5400000"/>
                <a:close/>
              </a:path>
            </a:pathLst>
          </a:custGeom>
          <a:ln w="6350">
            <a:solidFill>
              <a:srgbClr val="F7E49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0" y="2511921"/>
            <a:ext cx="4000500" cy="33580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21810" y="6403380"/>
            <a:ext cx="642871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EDF5E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Ishqnama Design System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602512" y="7393980"/>
            <a:ext cx="55912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F7E49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NOOR E IMAAN · WEB AND ANDROID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1752997"/>
            <a:ext cx="853916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A98A1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SOURCE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2362597"/>
            <a:ext cx="8539163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</a:rPr>
              <a:t>Noor</a:t>
            </a:r>
            <a:r>
              <a:rPr lang="en-US" sz="48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 e Imaan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3162697"/>
            <a:ext cx="7995761" cy="12020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864"/>
              </a:lnSpc>
              <a:buNone/>
            </a:pPr>
            <a:r>
              <a:rPr lang="en-US" sz="3900" dirty="0">
                <a:solidFill>
                  <a:srgbClr val="BEAA30"/>
                </a:solidFill>
                <a:latin typeface="Jameel Noori Nastaleeq" pitchFamily="34" charset="0"/>
                <a:ea typeface="Jameel Noori Nastaleeq" pitchFamily="34" charset="-122"/>
                <a:cs typeface="Jameel Noori Nastaleeq" pitchFamily="34" charset="-120"/>
              </a:rPr>
              <a:t>نورِ ایمان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952500" y="4631432"/>
            <a:ext cx="4102120" cy="2136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029"/>
              </a:lnSpc>
              <a:buNone/>
            </a:pPr>
            <a:r>
              <a:rPr lang="en-US" sz="2550" dirty="0">
                <a:solidFill>
                  <a:srgbClr val="22302E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Tarjuma wa tafseer of the Holy Quran by Syed Meeranji Abid Khundmiri.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52500" y="6996410"/>
            <a:ext cx="3549652" cy="17660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3400"/>
              </a:lnSpc>
              <a:buNone/>
            </a:pPr>
            <a:r>
              <a:rPr lang="en-US" sz="2100" dirty="0">
                <a:solidFill>
                  <a:srgbClr val="6B78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printed volume from the Mahdavia tradition, carried onto the web and Android under the Ishqnama name.</a:t>
            </a:r>
            <a:endParaRPr lang="en-US" sz="2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2625" y="2171303"/>
            <a:ext cx="7762875" cy="61347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Two products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952500" y="2247900"/>
            <a:ext cx="7943850" cy="3321050"/>
          </a:xfrm>
          <a:prstGeom prst="roundRect">
            <a:avLst>
              <a:gd name="adj" fmla="val 2868"/>
            </a:avLst>
          </a:prstGeom>
          <a:solidFill>
            <a:srgbClr val="F4F8F3"/>
          </a:solidFill>
          <a:ln w="6350">
            <a:solidFill>
              <a:srgbClr val="E8ECE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1454150" y="2749550"/>
            <a:ext cx="76346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A98A1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BEING REBUILT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454150" y="3321050"/>
            <a:ext cx="7634605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Website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454150" y="4095750"/>
            <a:ext cx="7148767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2550" dirty="0">
                <a:solidFill>
                  <a:srgbClr val="2230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Home page, Quran reader, and — new in this build — sign-in via Microsoft Entra External ID.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91650" y="2247900"/>
            <a:ext cx="7943850" cy="3321050"/>
          </a:xfrm>
          <a:prstGeom prst="roundRect">
            <a:avLst>
              <a:gd name="adj" fmla="val 2868"/>
            </a:avLst>
          </a:prstGeom>
          <a:solidFill>
            <a:srgbClr val="EDF5ED"/>
          </a:solidFill>
          <a:ln w="6350">
            <a:solidFill>
              <a:srgbClr val="DCE7DB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9893301" y="2749550"/>
            <a:ext cx="763460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107E8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893301" y="3321050"/>
            <a:ext cx="7634605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Android app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893301" y="4095750"/>
            <a:ext cx="7148767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2550" dirty="0">
                <a:solidFill>
                  <a:srgbClr val="2230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Tafseer Al Quraan — splash, SURA / JUZ chapter index, reading view.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52500" y="6064250"/>
            <a:ext cx="9827612" cy="9020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368"/>
              </a:lnSpc>
              <a:buNone/>
            </a:pPr>
            <a:r>
              <a:rPr lang="en-US" sz="2100" dirty="0">
                <a:solidFill>
                  <a:srgbClr val="6B787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Reading is never gated behind an account. Signing in only adds last-read position, bookmarks and favourites.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Colour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981200"/>
            <a:ext cx="10441909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286"/>
              </a:lnSpc>
              <a:buNone/>
            </a:pPr>
            <a:r>
              <a:rPr lang="en-US" sz="2550" dirty="0">
                <a:solidFill>
                  <a:srgbClr val="22302E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Deep teal and gold carry the brand. Everything else is paper, ink, and two manuscript accents held back for illustration.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952500" y="3448050"/>
            <a:ext cx="2730500" cy="2838450"/>
          </a:xfrm>
          <a:prstGeom prst="rect">
            <a:avLst/>
          </a:prstGeom>
          <a:solidFill>
            <a:srgbClr val="00292B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1181100" y="3676650"/>
            <a:ext cx="2355215" cy="2419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7E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#00292B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83000" y="3448050"/>
            <a:ext cx="2730500" cy="2838450"/>
          </a:xfrm>
          <a:prstGeom prst="rect">
            <a:avLst/>
          </a:prstGeom>
          <a:solidFill>
            <a:srgbClr val="004446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3911600" y="3676650"/>
            <a:ext cx="2355215" cy="2419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7E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#004446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13500" y="3448050"/>
            <a:ext cx="2730500" cy="2838450"/>
          </a:xfrm>
          <a:prstGeom prst="rect">
            <a:avLst/>
          </a:prstGeom>
          <a:solidFill>
            <a:srgbClr val="107E8D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6642100" y="3676650"/>
            <a:ext cx="2355215" cy="2419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#107E8D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0" y="3448050"/>
            <a:ext cx="2730500" cy="2838450"/>
          </a:xfrm>
          <a:prstGeom prst="rect">
            <a:avLst/>
          </a:prstGeom>
          <a:solidFill>
            <a:srgbClr val="BEAA30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9372600" y="3676650"/>
            <a:ext cx="2355215" cy="2419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2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#BEAA30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874501" y="3448050"/>
            <a:ext cx="2730500" cy="2838450"/>
          </a:xfrm>
          <a:prstGeom prst="rect">
            <a:avLst/>
          </a:prstGeom>
          <a:solidFill>
            <a:srgbClr val="F7E497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12103101" y="3676650"/>
            <a:ext cx="2355215" cy="2419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002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#F7E497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4605000" y="3448050"/>
            <a:ext cx="2730500" cy="2838450"/>
          </a:xfrm>
          <a:prstGeom prst="rect">
            <a:avLst/>
          </a:prstGeom>
          <a:solidFill>
            <a:srgbClr val="EDF5ED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5" name="Text 13"/>
          <p:cNvSpPr/>
          <p:nvPr/>
        </p:nvSpPr>
        <p:spPr>
          <a:xfrm>
            <a:off x="14833600" y="3676650"/>
            <a:ext cx="2355215" cy="2419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23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#EDF5ED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2500" y="6781800"/>
            <a:ext cx="528472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rgbClr val="6B78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Teal-900 is the logo fill and every dark surface. Teal-600 is the Android app bar.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578600" y="6781800"/>
            <a:ext cx="528472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rgbClr val="6B78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Gold-300 is the mark on dark. Gold-500 is the manuscript title gold.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204700" y="6781800"/>
            <a:ext cx="528472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rgbClr val="6B78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Paper is the mint-cream of the printed page. Status colours stay desaturated.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Type across four scripts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981200"/>
            <a:ext cx="1118773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286"/>
              </a:lnSpc>
              <a:buNone/>
            </a:pPr>
            <a:r>
              <a:rPr lang="en-US" sz="2550" dirty="0">
                <a:solidFill>
                  <a:srgbClr val="22302E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Scripture sets the scale, not the interface. Quranic Arabic never falls below 26px; Urdu never below 19px, at 2.35 line-height.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952500" y="3448050"/>
            <a:ext cx="16383000" cy="6076950"/>
          </a:xfrm>
          <a:prstGeom prst="roundRect">
            <a:avLst>
              <a:gd name="adj" fmla="val 1567"/>
            </a:avLst>
          </a:prstGeom>
          <a:solidFill>
            <a:srgbClr val="FFFFFF"/>
          </a:solidFill>
          <a:ln w="6350">
            <a:solidFill>
              <a:srgbClr val="E8ECE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958850" y="5281216"/>
            <a:ext cx="16370301" cy="9525"/>
          </a:xfrm>
          <a:prstGeom prst="rect">
            <a:avLst/>
          </a:prstGeom>
          <a:solidFill>
            <a:srgbClr val="E8ECEA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1454150" y="4184948"/>
            <a:ext cx="3981450" cy="4038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488"/>
              </a:lnSpc>
              <a:buNone/>
            </a:pPr>
            <a:r>
              <a:rPr lang="en-US" sz="1800" dirty="0">
                <a:solidFill>
                  <a:srgbClr val="6B7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PDMS Saleem Quran · 2.15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568950" y="3835400"/>
            <a:ext cx="11602848" cy="11029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309"/>
              </a:lnSpc>
              <a:buNone/>
            </a:pPr>
            <a:r>
              <a:rPr lang="en-US" sz="3900" dirty="0">
                <a:solidFill>
                  <a:srgbClr val="00292B"/>
                </a:solidFill>
                <a:latin typeface="PDMS Saleem Quran" pitchFamily="34" charset="0"/>
                <a:ea typeface="PDMS Saleem Quran" pitchFamily="34" charset="-122"/>
                <a:cs typeface="PDMS Saleem Quran" pitchFamily="34" charset="-120"/>
              </a:rPr>
              <a:t>اَلۡحَمۡدُ لِلّٰهِ رَبِّ الۡعٰلَمِيۡنَۙ</a:t>
            </a:r>
            <a:endParaRPr lang="en-US" sz="3900" dirty="0"/>
          </a:p>
        </p:txBody>
      </p:sp>
      <p:sp>
        <p:nvSpPr>
          <p:cNvPr id="8" name="Shape 6"/>
          <p:cNvSpPr/>
          <p:nvPr/>
        </p:nvSpPr>
        <p:spPr>
          <a:xfrm>
            <a:off x="958850" y="6989663"/>
            <a:ext cx="16370301" cy="9525"/>
          </a:xfrm>
          <a:prstGeom prst="rect">
            <a:avLst/>
          </a:prstGeom>
          <a:solidFill>
            <a:srgbClr val="E8ECEA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1454150" y="5772845"/>
            <a:ext cx="3728085" cy="769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488"/>
              </a:lnSpc>
              <a:buNone/>
            </a:pPr>
            <a:r>
              <a:rPr lang="en-US" sz="1800" dirty="0">
                <a:solidFill>
                  <a:srgbClr val="6B7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Jameel Noori Nastaleeq · 2.35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568950" y="5668566"/>
            <a:ext cx="11602848" cy="978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364"/>
              </a:lnSpc>
              <a:buNone/>
            </a:pPr>
            <a:r>
              <a:rPr lang="en-US" sz="3150" dirty="0">
                <a:solidFill>
                  <a:srgbClr val="22302E"/>
                </a:solidFill>
                <a:latin typeface="Jameel Noori Nastaleeq" pitchFamily="34" charset="0"/>
                <a:ea typeface="Jameel Noori Nastaleeq" pitchFamily="34" charset="-122"/>
                <a:cs typeface="Jameel Noori Nastaleeq" pitchFamily="34" charset="-120"/>
              </a:rPr>
              <a:t>ہر قسم کی تعریف اللہ ہی کے لئے ہے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58850" y="8489454"/>
            <a:ext cx="16370301" cy="9525"/>
          </a:xfrm>
          <a:prstGeom prst="rect">
            <a:avLst/>
          </a:prstGeom>
          <a:solidFill>
            <a:srgbClr val="E8ECEA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1454150" y="7377014"/>
            <a:ext cx="3728085" cy="769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488"/>
              </a:lnSpc>
              <a:buNone/>
            </a:pPr>
            <a:r>
              <a:rPr lang="en-US" sz="1800" dirty="0">
                <a:solidFill>
                  <a:srgbClr val="6B7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Noto Serif Devanagari · substituted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568950" y="7416998"/>
            <a:ext cx="11602848" cy="6895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2143"/>
              </a:lnSpc>
              <a:buNone/>
            </a:pPr>
            <a:r>
              <a:rPr lang="en-US" sz="2700" dirty="0">
                <a:solidFill>
                  <a:srgbClr val="22302E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हर तरह की तारीफ़ अल्लाह ही के लिए है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454150" y="8876804"/>
            <a:ext cx="3728085" cy="769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488"/>
              </a:lnSpc>
              <a:buNone/>
            </a:pPr>
            <a:r>
              <a:rPr lang="en-US" sz="1800" dirty="0">
                <a:solidFill>
                  <a:srgbClr val="6B7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 Garamond · Source Sans 3 · Noto Serif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568950" y="8985349"/>
            <a:ext cx="1239139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459"/>
              </a:lnSpc>
              <a:buNone/>
            </a:pPr>
            <a:r>
              <a:rPr lang="en-US" sz="2700" dirty="0">
                <a:solidFill>
                  <a:srgbClr val="22302E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al-Fātiḥah · Āl ʿImrān · aḍ-Ḍuḥā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E497">
              <a:alpha val="7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952500" y="952500"/>
            <a:ext cx="18021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EDF5E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Ornament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1981200"/>
            <a:ext cx="10441909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286"/>
              </a:lnSpc>
              <a:buNone/>
            </a:pPr>
            <a:r>
              <a:rPr lang="en-US" sz="2550" dirty="0">
                <a:solidFill>
                  <a:srgbClr val="EDF5ED">
                    <a:alpha val="72000"/>
                  </a:srgbClr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CSS only — no raster art, no photography. Gold at 7–10% alpha, and a single mihrab hairline per screen.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52500" y="3524250"/>
            <a:ext cx="3781425" cy="3060700"/>
          </a:xfrm>
          <a:prstGeom prst="roundRect">
            <a:avLst>
              <a:gd name="adj" fmla="val 3112"/>
            </a:avLst>
          </a:prstGeom>
          <a:solidFill>
            <a:srgbClr val="004446"/>
          </a:solidFill>
          <a:ln w="6350">
            <a:solidFill>
              <a:srgbClr val="F7E497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958850" y="3530600"/>
            <a:ext cx="3768725" cy="3048000"/>
          </a:xfrm>
          <a:prstGeom prst="rect">
            <a:avLst/>
          </a:prstGeom>
          <a:solidFill>
            <a:srgbClr val="F7E497">
              <a:alpha val="10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1206500" y="6102350"/>
            <a:ext cx="17973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7E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girih lattice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53025" y="3524250"/>
            <a:ext cx="3781425" cy="3060700"/>
          </a:xfrm>
          <a:prstGeom prst="roundRect">
            <a:avLst>
              <a:gd name="adj" fmla="val 3112"/>
            </a:avLst>
          </a:prstGeom>
          <a:solidFill>
            <a:srgbClr val="004446"/>
          </a:solidFill>
          <a:ln w="6350">
            <a:solidFill>
              <a:srgbClr val="F7E497">
                <a:alpha val="3400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Shape 7"/>
          <p:cNvSpPr/>
          <p:nvPr/>
        </p:nvSpPr>
        <p:spPr>
          <a:xfrm>
            <a:off x="5159375" y="3530600"/>
            <a:ext cx="3768725" cy="3048000"/>
          </a:xfrm>
          <a:prstGeom prst="rect">
            <a:avLst/>
          </a:prstGeom>
          <a:solidFill>
            <a:srgbClr val="F7E497">
              <a:alpha val="7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5407025" y="6102350"/>
            <a:ext cx="22120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7E4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diagonal lattice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53550" y="3524250"/>
            <a:ext cx="3781425" cy="3048000"/>
          </a:xfrm>
          <a:prstGeom prst="roundRect">
            <a:avLst>
              <a:gd name="adj" fmla="val 3125"/>
            </a:avLst>
          </a:prstGeom>
          <a:solidFill>
            <a:srgbClr val="EDF5ED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Shape 10"/>
          <p:cNvSpPr/>
          <p:nvPr/>
        </p:nvSpPr>
        <p:spPr>
          <a:xfrm>
            <a:off x="9353550" y="3524250"/>
            <a:ext cx="3781425" cy="3048000"/>
          </a:xfrm>
          <a:prstGeom prst="rect">
            <a:avLst/>
          </a:prstGeom>
          <a:solidFill>
            <a:srgbClr val="004446">
              <a:alpha val="2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Text 11"/>
          <p:cNvSpPr/>
          <p:nvPr/>
        </p:nvSpPr>
        <p:spPr>
          <a:xfrm>
            <a:off x="9601200" y="6096000"/>
            <a:ext cx="13825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tint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3554075" y="3524250"/>
            <a:ext cx="3781425" cy="3048000"/>
          </a:xfrm>
          <a:prstGeom prst="roundRect">
            <a:avLst>
              <a:gd name="adj" fmla="val 3125"/>
            </a:avLst>
          </a:prstGeom>
          <a:solidFill>
            <a:srgbClr val="EDF5ED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5" name="Shape 13"/>
          <p:cNvSpPr/>
          <p:nvPr/>
        </p:nvSpPr>
        <p:spPr>
          <a:xfrm>
            <a:off x="14390688" y="3810000"/>
            <a:ext cx="2108200" cy="2108200"/>
          </a:xfrm>
          <a:custGeom>
            <a:avLst/>
            <a:gdLst/>
            <a:ahLst/>
            <a:cxnLst/>
            <a:rect l="l" t="t" r="r" b="b"/>
            <a:pathLst>
              <a:path w="2108200" h="2108200">
                <a:moveTo>
                  <a:pt x="1054100" y="0"/>
                </a:moveTo>
                <a:lnTo>
                  <a:pt x="1054100" y="0"/>
                </a:lnTo>
                <a:arcTo wR="1054100" hR="1054100" stAng="16200000" swAng="5400000"/>
                <a:lnTo>
                  <a:pt x="2108200" y="2108200"/>
                </a:lnTo>
                <a:lnTo>
                  <a:pt x="0" y="2108200"/>
                </a:lnTo>
                <a:lnTo>
                  <a:pt x="0" y="1054100"/>
                </a:lnTo>
                <a:arcTo wR="1054100" hR="1054100" stAng="10800000" swAng="5400000"/>
                <a:close/>
              </a:path>
            </a:pathLst>
          </a:custGeom>
          <a:ln w="6350">
            <a:solidFill>
              <a:srgbClr val="D8BE44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6" name="Text 14"/>
          <p:cNvSpPr/>
          <p:nvPr/>
        </p:nvSpPr>
        <p:spPr>
          <a:xfrm>
            <a:off x="13801725" y="6096000"/>
            <a:ext cx="15208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6B78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mihrab arch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Component inventory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1981200"/>
            <a:ext cx="11933551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286"/>
              </a:lnSpc>
              <a:buNone/>
            </a:pPr>
            <a:r>
              <a:rPr lang="en-US" sz="2550" dirty="0">
                <a:solidFill>
                  <a:srgbClr val="22302E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Twenty-seven components in five groups, derived from the two products' real surfaces rather than a generic checklist.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952500" y="3524250"/>
            <a:ext cx="2971800" cy="25400"/>
          </a:xfrm>
          <a:prstGeom prst="rect">
            <a:avLst/>
          </a:prstGeom>
          <a:solidFill>
            <a:srgbClr val="D8BE4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952500" y="3816350"/>
            <a:ext cx="3268980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Core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" y="4591050"/>
            <a:ext cx="3060954" cy="2571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100" dirty="0">
                <a:solidFill>
                  <a:srgbClr val="2230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Icon Button IconButton Badge Card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305300" y="3524250"/>
            <a:ext cx="2971800" cy="25400"/>
          </a:xfrm>
          <a:prstGeom prst="rect">
            <a:avLst/>
          </a:prstGeom>
          <a:solidFill>
            <a:srgbClr val="D8BE4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4305300" y="3816350"/>
            <a:ext cx="3268980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Scripture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4305300" y="4591050"/>
            <a:ext cx="3060954" cy="2571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100" dirty="0">
                <a:solidFill>
                  <a:srgbClr val="2230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AyahBlock BismillahBlock SuraHeader SuraListItem ChapterNav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7658100" y="3524250"/>
            <a:ext cx="2971800" cy="25400"/>
          </a:xfrm>
          <a:prstGeom prst="rect">
            <a:avLst/>
          </a:prstGeom>
          <a:solidFill>
            <a:srgbClr val="D8BE4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7658100" y="3816350"/>
            <a:ext cx="3268980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Navigation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7658100" y="4591050"/>
            <a:ext cx="3060954" cy="2571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100" dirty="0">
                <a:solidFill>
                  <a:srgbClr val="2230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AppBar AppBarLink TabBar UserMenu SectionHeading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1010900" y="3524250"/>
            <a:ext cx="2971800" cy="25400"/>
          </a:xfrm>
          <a:prstGeom prst="rect">
            <a:avLst/>
          </a:prstGeom>
          <a:solidFill>
            <a:srgbClr val="D8BE4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11010900" y="3816350"/>
            <a:ext cx="3268980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Reader tools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1010900" y="4591050"/>
            <a:ext cx="3060954" cy="25716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100" dirty="0">
                <a:solidFill>
                  <a:srgbClr val="2230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ReaderToolbar SettingsSheet SegmentedControl FontSizeStepper SearchField · Switch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4363700" y="3524250"/>
            <a:ext cx="2971800" cy="25400"/>
          </a:xfrm>
          <a:prstGeom prst="rect">
            <a:avLst/>
          </a:prstGeom>
          <a:solidFill>
            <a:srgbClr val="D8BE44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7" name="Text 15"/>
          <p:cNvSpPr/>
          <p:nvPr/>
        </p:nvSpPr>
        <p:spPr>
          <a:xfrm>
            <a:off x="14363700" y="3816350"/>
            <a:ext cx="3268980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Account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4363700" y="4591050"/>
            <a:ext cx="3060954" cy="20649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2100" dirty="0">
                <a:solidFill>
                  <a:srgbClr val="2230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SignInCard ContinueReadingCard SavedVerseCard EmptyState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F5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2805609"/>
            <a:ext cx="96393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A98A1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WEBSITE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3415209"/>
            <a:ext cx="9639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Quran reader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52500" y="4520109"/>
            <a:ext cx="902589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286"/>
              </a:lnSpc>
              <a:buNone/>
            </a:pPr>
            <a:r>
              <a:rPr lang="en-US" sz="2550" dirty="0">
                <a:solidFill>
                  <a:srgbClr val="22302E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Arabic first, then the reader's chosen translation. Every tool for readability sits in one sticky strip.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030605" y="5834559"/>
            <a:ext cx="8761095" cy="26820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26695" indent="-226695" algn="l">
              <a:lnSpc>
                <a:spcPct val="11333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2230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Language switch — اردو · हिन्दी · English</a:t>
            </a:r>
            <a:endParaRPr lang="en-US" sz="2550" dirty="0"/>
          </a:p>
          <a:p>
            <a:pPr marL="226695" indent="-226695" algn="l">
              <a:lnSpc>
                <a:spcPct val="11333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2230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Six fixed text-size steps, 85% to 160%</a:t>
            </a:r>
            <a:endParaRPr lang="en-US" sz="2550" dirty="0"/>
          </a:p>
          <a:p>
            <a:pPr marL="226695" indent="-226695" algn="l">
              <a:lnSpc>
                <a:spcPct val="11333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2230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Show or hide the translation entirely</a:t>
            </a:r>
            <a:endParaRPr lang="en-US" sz="2550" dirty="0"/>
          </a:p>
          <a:p>
            <a:pPr marL="226695" indent="-226695" algn="l">
              <a:lnSpc>
                <a:spcPct val="113333"/>
              </a:lnSpc>
              <a:buSzPct val="100000"/>
              <a:buChar char="•"/>
              <a:tabLst>
                <a:tab pos="226695" algn="l"/>
              </a:tabLst>
            </a:pPr>
            <a:r>
              <a:rPr lang="en-US" sz="2550" dirty="0">
                <a:solidFill>
                  <a:srgbClr val="2230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Bookmark and share, per verse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10477500" y="952500"/>
            <a:ext cx="6870700" cy="9379248"/>
          </a:xfrm>
          <a:prstGeom prst="roundRect">
            <a:avLst>
              <a:gd name="adj" fmla="val 1386"/>
            </a:avLst>
          </a:prstGeom>
          <a:ln w="6350">
            <a:solidFill>
              <a:srgbClr val="DCE7DB"/>
            </a:solidFill>
            <a:prstDash val="solid"/>
          </a:ln>
          <a:effectLst>
            <a:outerShdw blurRad="38100" dist="19050" dir="5400000" algn="bl" rotWithShape="0">
              <a:srgbClr val="004446">
                <a:alpha val="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0" y="952500"/>
            <a:ext cx="6870700" cy="93792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1260574"/>
            <a:ext cx="7823200" cy="7956253"/>
          </a:xfrm>
          <a:prstGeom prst="roundRect">
            <a:avLst>
              <a:gd name="adj" fmla="val 1218"/>
            </a:avLst>
          </a:prstGeom>
          <a:ln w="6350">
            <a:solidFill>
              <a:srgbClr val="E8ECEA"/>
            </a:solidFill>
            <a:prstDash val="solid"/>
          </a:ln>
          <a:effectLst>
            <a:outerShdw blurRad="38100" dist="19050" dir="5400000" algn="bl" rotWithShape="0">
              <a:srgbClr val="004446">
                <a:alpha val="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1260574"/>
            <a:ext cx="7823200" cy="79562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25000" y="3073797"/>
            <a:ext cx="85915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A98A1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WEBSITE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9525000" y="3683397"/>
            <a:ext cx="85915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The home page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9525000" y="4788297"/>
            <a:ext cx="8044815" cy="1495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286"/>
              </a:lnSpc>
              <a:buNone/>
            </a:pPr>
            <a:r>
              <a:rPr lang="en-US" sz="2550" dirty="0">
                <a:solidFill>
                  <a:srgbClr val="22302E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A signed-in reader lands on their own position first, then their saved verses, then the full index of 114 chapters.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525000" y="6550422"/>
            <a:ext cx="8044815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6B787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Signed out, the personal sections are replaced by a single invitation to sign in — never a wall.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A5A5F">
                  <a:alpha val="100000"/>
                </a:srgbClr>
              </a:gs>
              <a:gs pos="48000">
                <a:srgbClr val="004446">
                  <a:alpha val="100000"/>
                </a:srgbClr>
              </a:gs>
              <a:gs pos="100000">
                <a:srgbClr val="00292B">
                  <a:alpha val="100000"/>
                </a:srgbClr>
              </a:gs>
            </a:gsLst>
            <a:path path="circle">
              <a:fillToRect l="50000" t="28000" r="50000" b="72000"/>
            </a:path>
          </a:gra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E497">
              <a:alpha val="10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Text 2"/>
          <p:cNvSpPr/>
          <p:nvPr/>
        </p:nvSpPr>
        <p:spPr>
          <a:xfrm>
            <a:off x="952500" y="2355652"/>
            <a:ext cx="1215390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F7E49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ANDROID · LIVE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52500" y="2965252"/>
            <a:ext cx="121539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EDF5E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Tafseer Al Quraan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500" y="4070152"/>
            <a:ext cx="6712597" cy="2466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286"/>
              </a:lnSpc>
              <a:buNone/>
            </a:pPr>
            <a:r>
              <a:rPr lang="en-US" sz="2550" dirty="0">
                <a:solidFill>
                  <a:srgbClr val="EDF5ED">
                    <a:alpha val="72000"/>
                  </a:srgbClr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existing app sets the chrome: teal-600 bar, uppercase SURA / JUZ tabs, and a row per chapter carrying ordinal, transliteration, Makki or Madani, verse count and Arabic name.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6841927"/>
            <a:ext cx="4914879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2100" dirty="0">
                <a:solidFill>
                  <a:srgbClr val="F7E49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Recreated from one marketing screenshot — no app source or Figma file was available.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12954000" y="1076325"/>
            <a:ext cx="4381500" cy="8324850"/>
          </a:xfrm>
          <a:prstGeom prst="roundRect">
            <a:avLst>
              <a:gd name="adj" fmla="val 4783"/>
            </a:avLst>
          </a:prstGeom>
          <a:ln/>
          <a:effectLst>
            <a:outerShdw blurRad="304800" dist="114300" dir="5400000" algn="bl" rotWithShape="0">
              <a:srgbClr val="00292B">
                <a:alpha val="42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0" y="1076325"/>
            <a:ext cx="4381500" cy="8324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Content rules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52500" y="2324100"/>
            <a:ext cx="8591550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Three names, always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952500" y="3022600"/>
            <a:ext cx="804481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2550" dirty="0">
                <a:solidFill>
                  <a:srgbClr val="2230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al-Fātiḥah · الفاتحة · سورہ الفاتحة. Never anglicised to "The Opening" in the interface.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0" y="2324100"/>
            <a:ext cx="8591550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Sentence case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525000" y="3022600"/>
            <a:ext cx="804481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2550" dirty="0">
                <a:solidFill>
                  <a:srgbClr val="2230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Everywhere. Uppercase belongs to the wordmark and small structural labels only.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4489450"/>
            <a:ext cx="8591550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No emoji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952500" y="5187950"/>
            <a:ext cx="804481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2550" dirty="0">
                <a:solidFill>
                  <a:srgbClr val="2230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only decorative glyph in the product is the Quranic verse separator ۝.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9525000" y="4489450"/>
            <a:ext cx="8591550" cy="584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300" dirty="0">
                <a:solidFill>
                  <a:srgbClr val="004446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Attribution by name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9525000" y="5187950"/>
            <a:ext cx="804481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2550" dirty="0">
                <a:solidFill>
                  <a:srgbClr val="2230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product never speaks as "we" about religious matters. Credit goes to the author.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6731000"/>
            <a:ext cx="16383000" cy="9525"/>
          </a:xfrm>
          <a:prstGeom prst="rect">
            <a:avLst/>
          </a:prstGeom>
          <a:solidFill>
            <a:srgbClr val="DCE7DB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952500" y="7156450"/>
            <a:ext cx="1305238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286"/>
              </a:lnSpc>
              <a:buNone/>
            </a:pPr>
            <a:r>
              <a:rPr lang="en-US" sz="2550" dirty="0">
                <a:solidFill>
                  <a:srgbClr val="6B7876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Interface copy runs under twelve words. Empty states state one fact and offer one action, with no apology.</a:t>
            </a:r>
            <a:endParaRPr lang="en-US" sz="2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4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7E497">
              <a:alpha val="7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Text 1"/>
          <p:cNvSpPr/>
          <p:nvPr/>
        </p:nvSpPr>
        <p:spPr>
          <a:xfrm>
            <a:off x="952500" y="2105025"/>
            <a:ext cx="18021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4800" dirty="0">
                <a:solidFill>
                  <a:srgbClr val="EDF5ED"/>
                </a:solidFill>
                <a:latin typeface="EB Garamond" pitchFamily="34" charset="0"/>
                <a:ea typeface="EB Garamond" pitchFamily="34" charset="-122"/>
                <a:cs typeface="EB Garamond" pitchFamily="34" charset="-120"/>
              </a:rPr>
              <a:t>Substitutions to confirm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52500" y="3438525"/>
            <a:ext cx="9525" cy="1504950"/>
          </a:xfrm>
          <a:prstGeom prst="rect">
            <a:avLst/>
          </a:prstGeom>
          <a:solidFill>
            <a:srgbClr val="F7E497">
              <a:alpha val="34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1301750" y="3438525"/>
            <a:ext cx="82073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F7E49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ICONS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01750" y="3971925"/>
            <a:ext cx="7685088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2550" dirty="0">
                <a:solidFill>
                  <a:srgbClr val="EDF5E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21-glyph Lucide subset stands in. The legacy site's own set was not reachable.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525000" y="3438525"/>
            <a:ext cx="9525" cy="1504950"/>
          </a:xfrm>
          <a:prstGeom prst="rect">
            <a:avLst/>
          </a:prstGeom>
          <a:solidFill>
            <a:srgbClr val="F7E497">
              <a:alpha val="34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9874251" y="3438525"/>
            <a:ext cx="82073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F7E49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HINDI AND ENGLISH FACES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874251" y="3971925"/>
            <a:ext cx="7685088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2550" dirty="0">
                <a:solidFill>
                  <a:srgbClr val="EDF5E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Noto Serif Devanagari, EB Garamond and Source Sans 3 — chosen freely, as invited.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" y="5362575"/>
            <a:ext cx="9525" cy="1504950"/>
          </a:xfrm>
          <a:prstGeom prst="rect">
            <a:avLst/>
          </a:prstGeom>
          <a:solidFill>
            <a:srgbClr val="F7E497">
              <a:alpha val="34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1301750" y="5362575"/>
            <a:ext cx="82073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F7E49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COLOUR VALUES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01750" y="5895975"/>
            <a:ext cx="7685088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2550" dirty="0">
                <a:solidFill>
                  <a:srgbClr val="EDF5E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Sampled from the supplied artwork, not from a stylesheet.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525000" y="5362575"/>
            <a:ext cx="9525" cy="1504950"/>
          </a:xfrm>
          <a:prstGeom prst="rect">
            <a:avLst/>
          </a:prstGeom>
          <a:solidFill>
            <a:srgbClr val="F7E497">
              <a:alpha val="34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9874251" y="5362575"/>
            <a:ext cx="82073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kern="0" spc="294" dirty="0">
                <a:solidFill>
                  <a:srgbClr val="F7E49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VERSE TEXT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874251" y="5895975"/>
            <a:ext cx="7685088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6250"/>
              </a:lnSpc>
              <a:buNone/>
            </a:pPr>
            <a:r>
              <a:rPr lang="en-US" sz="2550" dirty="0">
                <a:solidFill>
                  <a:srgbClr val="EDF5E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Only al-Fātiḥah is real. Hindi and English lines are placeholders — do not ship them.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52500" y="7400925"/>
            <a:ext cx="1305238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286"/>
              </a:lnSpc>
              <a:buNone/>
            </a:pPr>
            <a:r>
              <a:rPr lang="en-US" sz="2550" dirty="0">
                <a:solidFill>
                  <a:srgbClr val="F7E49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What would make this exact: the legacy site's CSS, your real icon set, and a sample of the actual Hindi and English translation text.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728</Words>
  <Application>Microsoft Office PowerPoint</Application>
  <PresentationFormat>Custom</PresentationFormat>
  <Paragraphs>101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Courier New</vt:lpstr>
      <vt:lpstr>EB Garamond</vt:lpstr>
      <vt:lpstr>Jameel Noori Nastaleeq</vt:lpstr>
      <vt:lpstr>Noto Serif</vt:lpstr>
      <vt:lpstr>Noto Serif Devanagari</vt:lpstr>
      <vt:lpstr>PDMS Saleem Quran</vt:lpstr>
      <vt:lpstr>Source Sans 3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Noor Mahdi</cp:lastModifiedBy>
  <cp:revision>2</cp:revision>
  <dcterms:created xsi:type="dcterms:W3CDTF">2026-08-22T13:26:47Z</dcterms:created>
  <dcterms:modified xsi:type="dcterms:W3CDTF">2026-08-22T13:54:42Z</dcterms:modified>
</cp:coreProperties>
</file>